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C43B44"/>
                </a:solidFill>
                <a:latin typeface="Aptos"/>
              </a:rPr>
              <a:t>PANDORA TS&amp;F · STRATEGIC PARTNER SELECTION 2027 · THE REQUESTED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6181D"/>
                </a:solidFill>
                <a:latin typeface="Aptos"/>
              </a:rPr>
              <a:t>The Alternative Approach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6181D"/>
                </a:solidFill>
                <a:latin typeface="Aptos"/>
              </a:rPr>
              <a:t>Run As-Is First, Earn Agentic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063240"/>
            <a:ext cx="3108960" cy="5486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C43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066"/>
                </a:solidFill>
                <a:latin typeface="Aptos"/>
              </a:rPr>
              <a:t>"We found the current approach to be a bit ambitious. Can you propose an alternative?"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35597B"/>
                </a:solidFill>
                <a:latin typeface="Aptos"/>
              </a:rPr>
              <a:t>Same destination. A gentler on-ramp. The fabric is the destination — never a dependency.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C6066"/>
                </a:solidFill>
                <a:latin typeface="Aptos"/>
              </a:rPr>
              <a:t>In the deep dive we showed the destination, not the road to it — so it read as if we would do it all from day one. This is the road: we run your platforms as they run today, and travel to the agentic destination step by earned step, at your pace, behind gates you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5C6066"/>
                </a:solidFill>
                <a:latin typeface="Aptos"/>
              </a:rPr>
              <a:t>Anchored to contract award,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01   WHAT WE HEARD — AND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A real alternative, not repackaging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931920"/>
                <a:gridCol w="3931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July approach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This alternative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Role of the agentic fabric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Delivery mechanism for scope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Continuous-improvement engine behind scope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Scope coupling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13 of 30 scope rows delivered "via the fabric"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Zero scope rows depend on the fabric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Day-1 change for Pandora teams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New Teams front door, new patterns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None — same tools, same processes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Adoption decision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Program-level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Per scope item, per readiness gate, Pandora-held dial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Governance on day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Agentic governance active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Service governance active; agentic governance dormant until first dial-up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Prerequisites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Assumed ready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Assessed, then built inside Lane 1 — Gate 0 before anything agentic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181D"/>
                          </a:solidFill>
                          <a:latin typeface="Aptos"/>
                        </a:rPr>
                        <a:t>Benefits curve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Steeper, earlier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181D"/>
                          </a:solidFill>
                          <a:latin typeface="Aptos"/>
                        </a:rPr>
                        <a:t>Slower start, same destination — the delta shown openly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What does not change: the destination, the SLAs, the assets, the RFP commitments. The July approach remains available as the accelerated 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02  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Two lanes, one destination — three gate kinds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35597B"/>
                </a:solidFill>
                <a:latin typeface="Aptos"/>
              </a:rPr>
              <a:t>Lane 1 · Run &amp; Deliver — active from day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Transition per the RFP · your tools &amp; SLAs · migration factories · conventional automation · foundations built as a by-product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968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C43B44"/>
                </a:solidFill>
                <a:latin typeface="Aptos"/>
              </a:rPr>
              <a:t>Lane 2 · Improve &amp; Evolve — the agentic fabric, held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Nothing in the estate until Gate 0 + the item gate pass · per-item dial in Pandora's hand · reversible, audited, quarterly-reviewed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10972800" cy="457200"/>
          </a:xfrm>
          <a:prstGeom prst="roundRect">
            <a:avLst>
              <a:gd name="adj" fmla="val 6000"/>
            </a:avLst>
          </a:prstGeom>
          <a:solidFill>
            <a:srgbClr val="F1EDF6"/>
          </a:solidFill>
          <a:ln w="9525">
            <a:solidFill>
              <a:srgbClr val="C8B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84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684E86"/>
                </a:solidFill>
                <a:latin typeface="Aptos"/>
              </a:rPr>
              <a:t>Governance base — service governance active day one · agentic governance pre-built, dormant until the first dial-up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2E7D4F"/>
                </a:solidFill>
                <a:latin typeface="Aptos"/>
              </a:rPr>
              <a:t>Gate 0 ·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One-time · estate-wide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9560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Makes any dial-up possible at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251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2E7D4F"/>
                </a:solidFill>
                <a:latin typeface="Aptos"/>
              </a:rPr>
              <a:t>Gate 1 · 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Per item · lightweight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9560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L0 → L1 for that item.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425196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1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2E7D4F"/>
                </a:solidFill>
                <a:latin typeface="Aptos"/>
              </a:rPr>
              <a:t>Gate 2 · Agentic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Per item · lightweight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49560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L1 → L2 for that item.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Only Gate 0 asks us to build something — so only Gate 0 gets its own slide (next). Gate 1 &amp; Gate 2 are the short per-item checks above; every gate is Pandora-owned and reversible.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03   THE SCOPE — WHAT WE ARE TALKING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Your scope of work: 30 items, 13 DevOps + 17 Data &amp;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066"/>
                </a:solidFill>
                <a:latin typeface="Aptos"/>
              </a:rPr>
              <a:t>Taken directly from your platform deep-dive scope mapping — nothing added, nothing dropped. We only make the service level of each item something you dial.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00" cy="4572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35597B"/>
                </a:solidFill>
                <a:latin typeface="Aptos"/>
              </a:rPr>
              <a:t>DEVOPS PLATFORM · 13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1.  PAKS: Kubernetes, self-service namespaces, provisioning
2.  Operating model for PAKS &amp; portal
3.  ADO → GitHub foundation
4.  End-to-end observability
5.  DevEx &amp; onboarding through a single IDP
6.  Helios → Port.io migration
7.  Tool selection decisions
8.  OpsGenie → PagerDuty migration
9.  DORA &amp; developer-NPS improvement
10.  Transition &amp; continuous improvement
11.  K8s / DevTools provisioning &amp; support
12.  Cost transparency for the DevOps estate
13.  Security, AI-platform &amp; code-quality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11680"/>
            <a:ext cx="5257800" cy="45720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684E86"/>
                </a:solidFill>
                <a:latin typeface="Aptos"/>
              </a:rPr>
              <a:t>DATA &amp; INTEGRATION PLATFORM · 17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1000" b="0">
                <a:solidFill>
                  <a:srgbClr val="16181D"/>
                </a:solidFill>
                <a:latin typeface="Aptos"/>
              </a:rPr>
              <a:t>1.  Data-product workspace in under 30 minutes
2.  Nexus → Unity Catalog flow
3.  Productionize pipelines &amp; dashboards fast
4.  Observe &amp; triage data platforms
5.  Cost transparency &amp; showback
6.  Single governance layer
7.  Open data format, centralized storage
8.  Engineering standards for integration
9.  Kong API portal &amp; discoverability
10.  AI-ready infrastructure for agents
11.  Flexible ingestion patterns
12.  Real-time + relaxed-latency data mart
13.  No data loss / lifecycle transparency
14.  AI-ready onboarding &amp; availability
15.  Data quality on Kafka
16.  Decommission BizTalk
17.  Synapse / EDW exit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04   GATE 0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The one gate that needs building — four readiness layers that must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066"/>
                </a:solidFill>
                <a:latin typeface="Aptos"/>
              </a:rPr>
              <a:t>You just met the three gates; this is the one that needs building — which is why it, and only it, gets a slide of its own. Lane 1 builds all four layers as a by-product of running the service well, so running as-is first is not a delay on the journey — it is its first leg.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5740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214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GATE 0 · all four layers proven → unlocks Lane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697480"/>
            <a:ext cx="795527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2697480"/>
            <a:ext cx="54864" cy="658368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0280" y="281635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287121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7977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Governance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2666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Autonomy without an approval model is just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447288"/>
            <a:ext cx="795527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3447288"/>
            <a:ext cx="54864" cy="658368"/>
          </a:xfrm>
          <a:prstGeom prst="rect">
            <a:avLst/>
          </a:prstGeom>
          <a:solidFill>
            <a:srgbClr val="A36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40280" y="356616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A36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362102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2958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Operations: trace &amp;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77647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You cannot gate agents on evidence you cannot measure.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4197096"/>
            <a:ext cx="795527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03120" y="4197096"/>
            <a:ext cx="54864" cy="658368"/>
          </a:xfrm>
          <a:prstGeom prst="rect">
            <a:avLst/>
          </a:prstGeom>
          <a:solidFill>
            <a:srgbClr val="55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0280" y="4315968"/>
            <a:ext cx="420624" cy="420624"/>
          </a:xfrm>
          <a:prstGeom prst="roundRect">
            <a:avLst>
              <a:gd name="adj" fmla="val 6000"/>
            </a:avLst>
          </a:prstGeom>
          <a:solidFill>
            <a:srgbClr val="557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437083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7939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People &amp; AI-tool fluency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262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Agents need supervisors before they need autonomy.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4946904"/>
            <a:ext cx="795527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03120" y="4946904"/>
            <a:ext cx="54864" cy="658368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40280" y="506577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512064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0292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Infrastructure &amp; security maturity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52760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An agent is only as safe as the estate that contains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760720"/>
            <a:ext cx="7955279" cy="384048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5815584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E8E6E1"/>
                </a:solidFill>
                <a:latin typeface="Aptos"/>
              </a:rPr>
              <a:t>Your estate, day one — Lane 1 builds all four layers as it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05   RUN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Day one: the RFP delivered as written — anchored to the 30 Oct award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1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Phase I · Support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2763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Days 0–60 · Nov–Dec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0934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Full support team hired in; on-parallel shadow of current teams; knowledge acquisition and tooling; handling P3–P5. Bi-weekly readiness assessments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Phase I · Autonomous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Day 60+ · from late Dec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59151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Full on-call rotation live; P1/P2 ownership; monthly on-call quality evaluation against SLA/SLO.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08376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272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Phase II · Dev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272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Days 60–120 · Jan–Feb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089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Full dev teams hired in; shadow; knowledge handover; feature development and system operation.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58183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77055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16181D"/>
                </a:solidFill>
                <a:latin typeface="Aptos"/>
              </a:rPr>
              <a:t>Phase II · Autonomous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77055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Day 120+ · from Mar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8587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Proficient in all dev/ops tasks; proactively lifting quality and delivery efficiency; monthly performance review. Cutover on a 50+ parameter readiness assessment, agreed jointly on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Tooling — Pandora's own table, unchanged: ServiceNow, New Relic, PagerDuty and GitHub (migrations in flight), Terraform, Jira/Confluence, Port.io.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SLAs — The RFP's own numbers: P1 15-minute acknowledgement / 1.5h RTO · 99.99% mission-critical · error budgets per tier.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RACI — The RFP boundary, unchanged: Pandora retains Lead and Senior Engineers, architecture, standards and roadmap; we run day-to-day.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Migrations — Conventional migration factories: ADO→GitHub, OpsGenie→PagerDuty, Backstage→Port.io, and the BizTalk/EDW/Synapse strangler — playbooks, conversion tooling, cutover evidence.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6181D"/>
                </a:solidFill>
                <a:latin typeface="Aptos"/>
              </a:rPr>
              <a:t>The only AI on day one — Inside our own delivery team (Claude, GitHub Copilot — tools Pandora already approved). It runs on our machines and pipelines, not in your estate, and needs no governance surface on your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06   RUN 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People · Technology · Operations — as-is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35597B"/>
                </a:solidFill>
                <a:latin typeface="Aptos"/>
              </a:rPr>
              <a:t>People — as-is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Day-one staffing is conventional roles per the RFP's resource asks — Kafka, Databricks, Kong, Kubernetes, Terraform engineers; DevOps and JS profiles — through the proven talent model: selection panels, buddy onboarding, quarterly talent reviews.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Enablement targets the RFP's named gaps (Kubernetes, Kafka, DevOps fundamentals) — valuable regardless of any agentic future.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Agent-supervisor skills, champions and a CoE are introduced only as dials 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74920"/>
            <a:ext cx="3246120" cy="54864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138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7D4F"/>
                </a:solidFill>
                <a:latin typeface="Aptos"/>
              </a:rPr>
              <a:t>No Pandora engineer's job changes on day one. Capability grows by invitation.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35597B"/>
                </a:solidFill>
                <a:latin typeface="Aptos"/>
              </a:rPr>
              <a:t>Technology — as-is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Conventional automation first: runbooks, golden paths, IaC, dashboards — the unglamorous 80% of the value.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Migrations as factories, not agents — wave plans, conversion playbooks, cutover evidence.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The fabric sits on the shelf, already built and proven — Pandav on a standard container, skills-as-files in Git, zero net-new infrastructure. Keeping the option open costs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5074920"/>
            <a:ext cx="3246120" cy="54864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5138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7D4F"/>
                </a:solidFill>
                <a:latin typeface="Aptos"/>
              </a:rPr>
              <a:t>We are not asking you to fund an option. It already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087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627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35597B"/>
                </a:solidFill>
                <a:latin typeface="Aptos"/>
              </a:rPr>
              <a:t>Operations — as-is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057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ITIL discipline on the RFP's SLAs, human on-call, MTTA/MTTD/MTTR measurement from day one.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Toil falls first through conventional automation; the trace-and-measure foundation (Gate 0, pillar three) is built here.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Agentic ops, if and when dialled, arrives read-only first, then drafted-RCA, then gated runbooks — each step behind its own gate.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5074920"/>
            <a:ext cx="3246120" cy="54864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51389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7D4F"/>
                </a:solidFill>
                <a:latin typeface="Aptos"/>
              </a:rPr>
              <a:t>SLAs are never hostage to novelty.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07  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Two layers, one principle — controls arrive before autonomy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214884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2E7D4F"/>
                </a:solidFill>
                <a:latin typeface="Aptos"/>
              </a:rPr>
              <a:t>Layer 1 · Service governance — ACTIVE 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5C6066"/>
                </a:solidFill>
                <a:latin typeface="Aptos"/>
              </a:rPr>
              <a:t>active from day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2E7D4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Weekly delivery forum (delivery and engineering leads, both sides)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2E7D4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Monthly Engineering-Manager → vendor-manager performance feedback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2E7D4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Escalation paths and joint incident/problem management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2E7D4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Service reviews: reliability, adoption, developer experience, cost, improvement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972800" cy="2148840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9525">
            <a:solidFill>
              <a:srgbClr val="A36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A3671F"/>
                </a:solidFill>
                <a:latin typeface="Aptos"/>
              </a:rPr>
              <a:t>Layer 2 · Agentic governance — DORMANT UNTIL DIAL-UP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5C6066"/>
                </a:solidFill>
                <a:latin typeface="Aptos"/>
              </a:rPr>
              <a:t>pre-built, dormant until the first dial-up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A3671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Agent registry, intent catalogue and model catalogue — prepared as templates during Lane-1 quarters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A3671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Risk-tiered autonomy model T0–T4 — action rights by risk, reversibility and environment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A3671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Full audit trail design: every request, context package, approval, tool call and output traceable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A3671F"/>
                </a:solidFill>
                <a:latin typeface="Aptos"/>
              </a:rPr>
              <a:t>•  </a:t>
            </a:r>
            <a:r>
              <a:rPr sz="1150">
                <a:solidFill>
                  <a:srgbClr val="16181D"/>
                </a:solidFill>
                <a:latin typeface="Aptos"/>
              </a:rPr>
              <a:t>Evaluation scorecards and AI FinOps — activated with the first estate touch, never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The quarterly dial review joins the two layers — every item's level, decided by Pandora. "Not yet" is always 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08  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One team, three locations — not a hand-off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5C6066"/>
                </a:solidFill>
                <a:latin typeface="Aptos"/>
              </a:rPr>
              <a:t>One team · one backlog · one leader · one knowledge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520440" cy="4572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6181D"/>
                </a:solidFill>
                <a:latin typeface="Aptos"/>
              </a:rPr>
              <a:t>Copenhagen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Onsite · Pandora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97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Leadership, liaison and trust — embedded with your leaders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Sapient Engagement Principal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Solution / Engineering lead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Rotating SMEs, 1–2× a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5C6066"/>
                </a:solidFill>
                <a:latin typeface="Aptos"/>
              </a:rPr>
              <a:t>WHERE ITS EFFORT GOES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5148072"/>
            <a:ext cx="128016" cy="128016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51114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1 · Run &amp; Deliver  65%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5385816"/>
            <a:ext cx="128016" cy="128016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5349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2 · Improve &amp; Evolve  35%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5614416"/>
            <a:ext cx="2080260" cy="146304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3220" y="5614416"/>
            <a:ext cx="1120140" cy="146304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192024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920240"/>
            <a:ext cx="3520440" cy="4572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6181D"/>
                </a:solidFill>
                <a:latin typeface="Aptos"/>
              </a:rPr>
              <a:t>Bucharest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Nearshore · Romania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Timezone overlap with Copenhagen — senior engineering and fast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Senior / lead engineers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QE / SDET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Delivery coordination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92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5C6066"/>
                </a:solidFill>
                <a:latin typeface="Aptos"/>
              </a:rPr>
              <a:t>WHERE ITS EFFORT GOES TODAY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5148072"/>
            <a:ext cx="128016" cy="128016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51114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1 · Run &amp; Deliver  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5385816"/>
            <a:ext cx="128016" cy="128016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5349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2 · Improve &amp; Evolve  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614416"/>
            <a:ext cx="2560320" cy="146304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86600" y="5614416"/>
            <a:ext cx="640080" cy="146304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19" y="192024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1920240"/>
            <a:ext cx="3520440" cy="4572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6181D"/>
                </a:solidFill>
                <a:latin typeface="Aptos"/>
              </a:rPr>
              <a:t>Gurgaon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Offshore · India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697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6181D"/>
                </a:solidFill>
                <a:latin typeface="Aptos"/>
              </a:rPr>
              <a:t>Engineering and 24/7 operations scale — the delivery backbone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Data · Kafka · DevOps · Cloud engineers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Development + Operations rotation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16181D"/>
                </a:solidFill>
                <a:latin typeface="Aptos"/>
              </a:rPr>
              <a:t>•  </a:t>
            </a:r>
            <a:r>
              <a:rPr sz="1050">
                <a:solidFill>
                  <a:srgbClr val="16181D"/>
                </a:solidFill>
                <a:latin typeface="Aptos"/>
              </a:rPr>
              <a:t>AgentOps skill authoring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4892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5C6066"/>
                </a:solidFill>
                <a:latin typeface="Aptos"/>
              </a:rPr>
              <a:t>WHERE ITS EFFORT GOES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599" y="5148072"/>
            <a:ext cx="128016" cy="128016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7" y="51114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1 · Run &amp; Deliver  88%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599" y="5385816"/>
            <a:ext cx="128016" cy="128016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7" y="53492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Lane 2 · Improve &amp; Evolve  12%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9" y="5614416"/>
            <a:ext cx="2816352" cy="146304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45951" y="5614416"/>
            <a:ext cx="384048" cy="146304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Read every bar the same way: each location is mostly Lane 1 today. The coral Lane 2 slice is not a second team — it is the same people doing enablement, and it grows only as you turn dials.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09  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One leader across all tracks — and Pandora on the wheel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417320"/>
            <a:ext cx="6400800" cy="64008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4813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>
                <a:solidFill>
                  <a:srgbClr val="35597B"/>
                </a:solidFill>
                <a:latin typeface="Aptos"/>
              </a:rPr>
              <a:t>Pandora leadership — retains architecture · standards · roadmap · Lead &amp; Senior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3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>
                <a:solidFill>
                  <a:srgbClr val="5C6066"/>
                </a:solidFill>
                <a:latin typeface="Aptos"/>
              </a:rPr>
              <a:t>↕ pairs 1:1 — one accountable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5120640" cy="502920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3500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C43B44"/>
                </a:solidFill>
                <a:latin typeface="Aptos"/>
              </a:rPr>
              <a:t>One Sapient Engagement Principal — senior engineering leader; orchestrates through the track SMEs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286000"/>
            <a:ext cx="2743200" cy="548640"/>
          </a:xfrm>
          <a:prstGeom prst="roundRect">
            <a:avLst>
              <a:gd name="adj" fmla="val 6000"/>
            </a:avLst>
          </a:prstGeom>
          <a:solidFill>
            <a:srgbClr val="F1EDF6"/>
          </a:solidFill>
          <a:ln w="9525">
            <a:solidFill>
              <a:srgbClr val="C8B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13648" y="2532888"/>
            <a:ext cx="118872" cy="36576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32257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84E86"/>
                </a:solidFill>
                <a:latin typeface="Aptos"/>
              </a:rPr>
              <a:t>Draws on — Sapient senior thought leadership &amp; global CoE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10835640" cy="310896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15240">
            <a:solidFill>
              <a:srgbClr val="35597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10835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Pandora's direct line to every track lead — transparent &amp; encouraged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10128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4670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16181D"/>
                </a:solidFill>
                <a:latin typeface="Aptos"/>
              </a:rPr>
              <a:t>Data &amp;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84448"/>
            <a:ext cx="3246120" cy="292608"/>
          </a:xfrm>
          <a:prstGeom prst="roundRect">
            <a:avLst>
              <a:gd name="adj" fmla="val 6000"/>
            </a:avLst>
          </a:prstGeom>
          <a:solidFill>
            <a:srgbClr val="FBF3E3"/>
          </a:solidFill>
          <a:ln w="9525">
            <a:solidFill>
              <a:srgbClr val="DDB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301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A3671F"/>
                </a:solidFill>
                <a:latin typeface="Aptos"/>
              </a:rPr>
              <a:t>Deep SME — Databricks · Kafka ·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31920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867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5763F"/>
                </a:solidFill>
                <a:latin typeface="Aptos"/>
              </a:rPr>
              <a:t>DEV  Data · Kafka · Delta · Unity Catalog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79392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F8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3425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A3671F"/>
                </a:solidFill>
                <a:latin typeface="Aptos"/>
              </a:rPr>
              <a:t>OPS  Streaming ops · DQ · lineage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310128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34670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16181D"/>
                </a:solidFill>
                <a:latin typeface="Aptos"/>
              </a:rPr>
              <a:t>DevOps &amp; Cloud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84448"/>
            <a:ext cx="3246120" cy="292608"/>
          </a:xfrm>
          <a:prstGeom prst="roundRect">
            <a:avLst>
              <a:gd name="adj" fmla="val 6000"/>
            </a:avLst>
          </a:prstGeom>
          <a:solidFill>
            <a:srgbClr val="FBF3E3"/>
          </a:solidFill>
          <a:ln w="9525">
            <a:solidFill>
              <a:srgbClr val="DDB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6301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A3671F"/>
                </a:solidFill>
                <a:latin typeface="Aptos"/>
              </a:rPr>
              <a:t>Deep SME — Kubernetes · Terraform · CI/CD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931920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867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5763F"/>
                </a:solidFill>
                <a:latin typeface="Aptos"/>
              </a:rPr>
              <a:t>DEV  CI/CD · GitHub Actions · Terraform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279392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F8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33425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A3671F"/>
                </a:solidFill>
                <a:latin typeface="Aptos"/>
              </a:rPr>
              <a:t>OPS  PAKS/AKS · SRE · 24/7 on-call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310128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334670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16181D"/>
                </a:solidFill>
                <a:latin typeface="Aptos"/>
              </a:rPr>
              <a:t>AgentOps &amp; Enablement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584448"/>
            <a:ext cx="3246120" cy="292608"/>
          </a:xfrm>
          <a:prstGeom prst="roundRect">
            <a:avLst>
              <a:gd name="adj" fmla="val 6000"/>
            </a:avLst>
          </a:prstGeom>
          <a:solidFill>
            <a:srgbClr val="FBF3E3"/>
          </a:solidFill>
          <a:ln w="9525">
            <a:solidFill>
              <a:srgbClr val="DDB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63016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A3671F"/>
                </a:solidFill>
                <a:latin typeface="Aptos"/>
              </a:rPr>
              <a:t>Deep SME — AI platform · evals · FinOps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931920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EF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9867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55763F"/>
                </a:solidFill>
                <a:latin typeface="Aptos"/>
              </a:rPr>
              <a:t>DEV  Skills authoring · AI tooling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4279392"/>
            <a:ext cx="3246120" cy="310896"/>
          </a:xfrm>
          <a:prstGeom prst="roundRect">
            <a:avLst>
              <a:gd name="adj" fmla="val 6000"/>
            </a:avLst>
          </a:prstGeom>
          <a:solidFill>
            <a:srgbClr val="F8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334256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A3671F"/>
                </a:solidFill>
                <a:latin typeface="Aptos"/>
              </a:rPr>
              <a:t>OPS  Evaluations · AI FinOps · adoption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709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WHO DECIDES, WHO DOES — CONTROL BY DESIGN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Direction &amp; roadmap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35054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53342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02597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0885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Standards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70140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88428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Gate 0 / 1 / 2 sign-off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7683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5971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Improvement backlog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5226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23514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Day-to-day delivery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72769" y="5029200"/>
            <a:ext cx="1512678" cy="548640"/>
          </a:xfrm>
          <a:prstGeom prst="roundRect">
            <a:avLst>
              <a:gd name="adj" fmla="val 6000"/>
            </a:avLst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91057" y="5084064"/>
            <a:ext cx="1476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Operations &amp; on-call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■ Pandora-owned    ■ Joint    ■ Sapient-run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No one person is the deep expert in everything: each track carries its own SME, the Principal orchestrates through them and draws on Sapient's senior thought leadership — while every gate needs a named Pandora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10  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Why two teams? One team, sequenced — dev &amp; ops converge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066"/>
                </a:solidFill>
                <a:latin typeface="Aptos"/>
              </a:rPr>
              <a:t>Not two teams — one team, sequenced. The transition stabilises the running service (the support wave) before it takes on change (the dev wave); the destination is a single team that builds and runs. What makes that possible is the agentic dial itself: Level 2/3 operations removes the operational cognitive load that forced development and operations apart, so a build-minded engineer can own what they run without being a full-time ops specialist.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194560" cy="548640"/>
          </a:xfrm>
          <a:prstGeom prst="roundRect">
            <a:avLst>
              <a:gd name="adj" fmla="val 6000"/>
            </a:avLst>
          </a:prstGeom>
          <a:solidFill>
            <a:srgbClr val="EFF3EA"/>
          </a:solidFill>
          <a:ln w="9525">
            <a:solidFill>
              <a:srgbClr val="557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55763F"/>
                </a:solidFill>
                <a:latin typeface="Aptos"/>
              </a:rPr>
              <a:t>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2194560" cy="548640"/>
          </a:xfrm>
          <a:prstGeom prst="roundRect">
            <a:avLst>
              <a:gd name="adj" fmla="val 6000"/>
            </a:avLst>
          </a:prstGeom>
          <a:solidFill>
            <a:srgbClr val="F8F1E6"/>
          </a:solidFill>
          <a:ln w="9525">
            <a:solidFill>
              <a:srgbClr val="A36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A3671F"/>
                </a:solidFill>
                <a:latin typeface="Aptos"/>
              </a:rPr>
              <a:t>Operations · 24×7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560320"/>
            <a:ext cx="5394960" cy="457200"/>
          </a:xfrm>
          <a:prstGeom prst="bentConnector3">
            <a:avLst/>
          </a:prstGeom>
          <a:ln w="38100">
            <a:solidFill>
              <a:srgbClr val="55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834640" y="3063240"/>
            <a:ext cx="5394960" cy="411480"/>
          </a:xfrm>
          <a:prstGeom prst="bentConnector3">
            <a:avLst/>
          </a:prstGeom>
          <a:ln w="38100">
            <a:solidFill>
              <a:srgbClr val="A36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2697480"/>
            <a:ext cx="3200400" cy="777240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355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97B"/>
                </a:solidFill>
                <a:latin typeface="Aptos"/>
              </a:rPr>
              <a:t>One team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6181D"/>
                </a:solidFill>
                <a:latin typeface="Aptos"/>
              </a:rPr>
              <a:t>build it · run it · agent-supervised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977639"/>
            <a:ext cx="5669280" cy="54864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40416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E7D4F"/>
                </a:solidFill>
                <a:latin typeface="Aptos"/>
              </a:rPr>
              <a:t>Agentic ops (Ops L2/L3) removes the operational cognitive load — so build-minded engineers can own what they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5440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6181D"/>
                </a:solidFill>
                <a:latin typeface="Aptos"/>
              </a:rPr>
              <a:t>A layered core, not uniform heroes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005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6066"/>
                </a:solidFill>
                <a:latin typeface="Aptos"/>
              </a:rPr>
              <a:t>An experienced SRE/DevOps backbone holds 24×7 and the hard incidents; development engineers take on-call for what they build, with agentic ops carrying the toil.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709160"/>
            <a:ext cx="5440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823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6181D"/>
                </a:solidFill>
                <a:latin typeface="Aptos"/>
              </a:rPr>
              <a:t>Rotation &amp;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005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6066"/>
                </a:solidFill>
                <a:latin typeface="Aptos"/>
              </a:rPr>
              <a:t>Engineers rotate between development and operations, building the build-and-run mindset over the journey rather than hiring for it fully formed.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86400"/>
            <a:ext cx="5440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595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6181D"/>
                </a:solidFill>
                <a:latin typeface="Aptos"/>
              </a:rPr>
              <a:t>Follow-the-sun — 24×7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9729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6066"/>
                </a:solidFill>
                <a:latin typeface="Aptos"/>
              </a:rPr>
              <a:t>Copenhagen, Bucharest and Gurgaon cover the clock, so no individual carries an unsustainable pager — and dialled agentic ops cuts the night wake-ups further.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486400"/>
            <a:ext cx="5440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5595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6181D"/>
                </a:solidFill>
                <a:latin typeface="Aptos"/>
              </a:rPr>
              <a:t>Select for mindset, enable the 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9729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>
                <a:solidFill>
                  <a:srgbClr val="5C6066"/>
                </a:solidFill>
                <a:latin typeface="Aptos"/>
              </a:rPr>
              <a:t>We screen for ownership and curiosity, then close skills through Gate-0 enablement — the same clinics that build capability build the mindset.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11  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Skills coverage — Ops L1→L3 into Development, and knowledge transfer that sticks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1109955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874519"/>
                <a:gridCol w="1874519"/>
                <a:gridCol w="1874519"/>
                <a:gridCol w="1874519"/>
                <a:gridCol w="187451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Engineering skill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Ops L1 · Monitor &amp; route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Ops L2 · Diagnose &amp; restore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Ops L3 · Engineer fix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Improve &amp; Evolve · Lane 2 backlog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5C6066"/>
                          </a:solidFill>
                          <a:latin typeface="Aptos"/>
                        </a:rPr>
                        <a:t>Development · Build &amp; change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Data engineering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Pipeline alerts, failed-run routing, first checks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Rerun, quarantine, DQ triage, lineage lookup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Spark / Delta fix PR, model and job optimisation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auto-DQ triage, self-healing reruns, templates as dial-up candidates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Data-product build, medallion design, reusable templates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Kafka / Confluent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Lag, schema and connector alerts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Replay, rebalance, connector restart, config triage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Connector, schema or consumer fix PR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self-healing connectors, schema-drift auto-remediation candidates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Event contracts, producer / consumer engineering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DevOps / CI-CD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Failed-build routing and known-error checks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Runner, secret and pipeline recovery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Workflow / action refactor PR, policy-gate fix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flaky-pipeline auto-remediation, policy-as-code dial-up candidates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GitHub migration factory and platform pipeline patterns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Cloud · Kubernetes · Terraform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Pod, node, quota and certificate monitoring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Rollback, scale, config restore and access triage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IaC, Helm or platform fix PR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self-heal and auto-scale recipes, drift-correction candidates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PAKS recipes, self-service patterns, platform engineering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SRE / Observability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Alert intake, severity routing, dashboard checks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Correlation, RCA draft, runbook-guided restore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Instrumentation, SLO or reliability fix PR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auto-RCA, alert-noise reduction, SLO-guard automation candidates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Observability-by-design and resilience engineering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700" b="1">
                          <a:solidFill>
                            <a:srgbClr val="16181D"/>
                          </a:solidFill>
                          <a:latin typeface="Aptos"/>
                        </a:rPr>
                        <a:t>QE / SDET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Smoke-test results and release-health checks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Regression triage, data-quality failure isolation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Test-harness and quality-gate fix PR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Backlog: self-maintaining tests, failure auto-triage, risk-based selection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16181D"/>
                          </a:solidFill>
                          <a:latin typeface="Aptos"/>
                        </a:rPr>
                        <a:t>Automation strategy, contract tests, CI quality gates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92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84E86"/>
                </a:solidFill>
                <a:latin typeface="Aptos"/>
              </a:rPr>
              <a:t>KNOWLEDGE TRANSFER — A DESIGNED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20482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2048255" cy="45720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30352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84E86"/>
                </a:solidFill>
                <a:latin typeface="Aptos"/>
              </a:rPr>
              <a:t>1. Acquire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559552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C6066"/>
                </a:solidFill>
                <a:latin typeface="Aptos"/>
              </a:rPr>
              <a:t>On-parallel shadow of current teams; tooling and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5212080"/>
            <a:ext cx="20482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5212080"/>
            <a:ext cx="2048255" cy="45720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530352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84E86"/>
                </a:solidFill>
                <a:latin typeface="Aptos"/>
              </a:rPr>
              <a:t>2.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5559552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C6066"/>
                </a:solidFill>
                <a:latin typeface="Aptos"/>
              </a:rPr>
              <a:t>Living runbooks, ADRs, architecture and a knowledge wiki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5212080"/>
            <a:ext cx="20482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5212080"/>
            <a:ext cx="2048255" cy="45720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530352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84E86"/>
                </a:solidFill>
                <a:latin typeface="Aptos"/>
              </a:rPr>
              <a:t>3. Play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559552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C6066"/>
                </a:solidFill>
                <a:latin typeface="Aptos"/>
              </a:rPr>
              <a:t>Reverse-shadow — we play knowledge back to your incumbent SMEs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5212080"/>
            <a:ext cx="20482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5212080"/>
            <a:ext cx="2048255" cy="45720"/>
          </a:xfrm>
          <a:prstGeom prst="rect">
            <a:avLst/>
          </a:prstGeom>
          <a:solidFill>
            <a:srgbClr val="68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5" y="530352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684E86"/>
                </a:solidFill>
                <a:latin typeface="Aptos"/>
              </a:rPr>
              <a:t>4. Certify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5559552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C6066"/>
                </a:solidFill>
                <a:latin typeface="Aptos"/>
              </a:rPr>
              <a:t>Enablement clinics and certifications against readiness thresholds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64624" y="5212080"/>
            <a:ext cx="2048255" cy="91440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4624" y="5212080"/>
            <a:ext cx="2048255" cy="457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74351" y="530352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2E7D4F"/>
                </a:solidFill>
                <a:latin typeface="Aptos"/>
              </a:rPr>
              <a:t>5. 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1" y="5559552"/>
            <a:ext cx="18287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C6066"/>
                </a:solidFill>
                <a:latin typeface="Aptos"/>
              </a:rPr>
              <a:t>Pandora can operate any capability we deliver — the acceptance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Full coverage day one across dev &amp; ops — incl. the Kubernetes, Kafka &amp; DevOps fundamentals your RFP flagged as thin.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12  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Capacity that compounds — more from a leaner, stabler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68580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468880"/>
            <a:ext cx="6309359" cy="1828800"/>
          </a:xfrm>
          <a:prstGeom prst="bentConnector3">
            <a:avLst/>
          </a:prstGeom>
          <a:ln w="38100">
            <a:solidFill>
              <a:srgbClr val="355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3840480"/>
            <a:ext cx="6309359" cy="137159"/>
          </a:xfrm>
          <a:prstGeom prst="bentConnector3">
            <a:avLst/>
          </a:prstGeom>
          <a:ln w="31750">
            <a:solidFill>
              <a:srgbClr val="5C606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7784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Effective capacity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Team size — flat / leaner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5C6066"/>
                </a:solidFill>
                <a:latin typeface="Aptos"/>
              </a:rPr>
              <a:t>productivity dividend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Jan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Apr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Oct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>
                <a:solidFill>
                  <a:srgbClr val="16181D"/>
                </a:solidFill>
                <a:latin typeface="Aptos"/>
              </a:rPr>
              <a:t>Oct 2028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8483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1. Ramp &amp; stabilise  (Jan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13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6066"/>
                </a:solidFill>
                <a:latin typeface="Aptos"/>
              </a:rPr>
              <a:t>Onboarding and transition reach a steady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724912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79806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2. AI-augmented delivery  (Apr 2027)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2666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6066"/>
                </a:solidFill>
                <a:latin typeface="Aptos"/>
              </a:rPr>
              <a:t>Our own team's AI tooling lifts throughput per engineer — no estate footprint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438144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51129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3. Dialled AI  (Oct 2027)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3989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6066"/>
                </a:solidFill>
                <a:latin typeface="Aptos"/>
              </a:rPr>
              <a:t>As you turn L1 dials, assisted flows raise platform-team throughput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51376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22452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4. Owned &amp; optimised  (Oct 2028)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531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6066"/>
                </a:solidFill>
                <a:latin typeface="Aptos"/>
              </a:rPr>
              <a:t>Reusable patterns and a Pandora-owned CoE; capacity high, our footprint narrowing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More delivered, by a leaner and more stable team, an increasing share of it Pandora-owned — the opposite of bringing an army.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13   THE 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Three service levels, and the two gates between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72800" cy="502920"/>
          </a:xfrm>
          <a:prstGeom prst="roundRect">
            <a:avLst>
              <a:gd name="adj" fmla="val 6000"/>
            </a:avLst>
          </a:prstGeom>
          <a:solidFill>
            <a:srgbClr val="E9F3EC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GATE 0 · foundations proven — estate-wide, passes once. Only then can any per-item dial move.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520440" cy="4572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35597B"/>
                </a:solidFill>
                <a:latin typeface="Aptos"/>
              </a:rPr>
              <a:t>L0 · Run as-is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Conventional delivery, named solution, SLA-bound. The default — forever, if Pandora chooses.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063240"/>
            <a:ext cx="640080" cy="36576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108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G1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286000"/>
            <a:ext cx="3520440" cy="45720"/>
          </a:xfrm>
          <a:prstGeom prst="rect">
            <a:avLst/>
          </a:prstGeom>
          <a:solidFill>
            <a:srgbClr val="A36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A3671F"/>
                </a:solidFill>
                <a:latin typeface="Aptos"/>
              </a:rPr>
              <a:t>L1 · AI-assisted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788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AI drafts and recommends inside the existing process; a human executes every action. No new estate infrastructure; audit on. Unlocked per item by Gate 1 (after Gate 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063240"/>
            <a:ext cx="640080" cy="36576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108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G2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2860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286000"/>
            <a:ext cx="3520440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C43B44"/>
                </a:solidFill>
                <a:latin typeface="Aptos"/>
              </a:rPr>
              <a:t>L2 · Agentic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788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The fabric owns a bounded loop behind approval gates. Unlocked per item by Gate 2 — never before a proven L1 track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Every item starts at L0 and stays there until you turn its dial. You hold all 30 dials.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14   THE 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The dial in action — the &lt;30-minute workspace, same service three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6181D"/>
                </a:solidFill>
                <a:latin typeface="Aptos"/>
              </a:rPr>
              <a:t>Data-product workspace — the &lt;30-minute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1280160"/>
          </a:xfrm>
          <a:prstGeom prst="rect">
            <a:avLst/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35597B"/>
                </a:solidFill>
                <a:latin typeface="Aptos"/>
              </a:rPr>
              <a:t>Level 0 · from Jan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299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Human-run · engineer approves &amp; applies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77440"/>
            <a:ext cx="9093707" cy="219456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2387" y="2377440"/>
            <a:ext cx="1604772" cy="219456"/>
          </a:xfrm>
          <a:prstGeom prst="roundRect">
            <a:avLst>
              <a:gd name="adj" fmla="val 6000"/>
            </a:avLst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6181D"/>
                </a:solidFill>
                <a:latin typeface="Aptos"/>
              </a:rPr>
              <a:t>Templated Terraform + Databricks via a ServiceNow request. Days become hours. A platform engineer still approves and applies.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109728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54864" cy="1280160"/>
          </a:xfrm>
          <a:prstGeom prst="rect">
            <a:avLst/>
          </a:prstGeom>
          <a:solidFill>
            <a:srgbClr val="A36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47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A3671F"/>
                </a:solidFill>
                <a:latin typeface="Aptos"/>
              </a:rPr>
              <a:t>Level 1 · earliest Apr–Oct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472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AI-assisted · human approves every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94760"/>
            <a:ext cx="4814316" cy="219456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82996" y="3794760"/>
            <a:ext cx="5884164" cy="219456"/>
          </a:xfrm>
          <a:prstGeom prst="roundRect">
            <a:avLst>
              <a:gd name="adj" fmla="val 6000"/>
            </a:avLst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873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6181D"/>
                </a:solidFill>
                <a:latin typeface="Aptos"/>
              </a:rPr>
              <a:t>The request moves to Teams; Pandav assembles context from the graph, policy decides the route, a human approves — provisioning completes in under 30 minutes with an engineer touching only the approval. The RFP target lands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09728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54864" cy="128016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C43B44"/>
                </a:solidFill>
                <a:latin typeface="Aptos"/>
              </a:rPr>
              <a:t>Level 2 · earliest Oct 2027+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8646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5C6066"/>
                </a:solidFill>
                <a:latin typeface="Aptos"/>
              </a:rPr>
              <a:t>Agent-run · human reviews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212080"/>
            <a:ext cx="1604772" cy="219456"/>
          </a:xfrm>
          <a:prstGeom prst="roundRect">
            <a:avLst>
              <a:gd name="adj" fmla="val 6000"/>
            </a:avLst>
          </a:prstGeom>
          <a:solidFill>
            <a:srgbClr val="355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73452" y="5212080"/>
            <a:ext cx="9093707" cy="219456"/>
          </a:xfrm>
          <a:prstGeom prst="roundRect">
            <a:avLst>
              <a:gd name="adj" fmla="val 6000"/>
            </a:avLst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046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6181D"/>
                </a:solidFill>
                <a:latin typeface="Aptos"/>
              </a:rPr>
              <a:t>For pre-approved patterns within policy, provisioning runs automatically with outcome review. Only if the evidence says so, and only if you turn the dial.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Human (steel) → Agent (coral): the boundary slides right as the level rises — the human holds the gate until L2.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15   THE 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Everything you asked for — your goals, on the gentler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181D"/>
                </a:solidFill>
                <a:latin typeface="Aptos"/>
              </a:rPr>
              <a:t>12 of your 16 Data &amp; Integration goals and 3 of 4 DevOps objectives are fully met at Level 0 — nothing agentic. Nothing needs Level 2. The dial governs pace, never coverage.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72800" cy="576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760720"/>
                <a:gridCol w="1188720"/>
                <a:gridCol w="26517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C6066"/>
                          </a:solidFill>
                          <a:latin typeface="Aptos"/>
                        </a:rPr>
                        <a:t>Ref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C6066"/>
                          </a:solidFill>
                          <a:latin typeface="Aptos"/>
                        </a:rPr>
                        <a:t>Your stated goal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C6066"/>
                          </a:solidFill>
                          <a:latin typeface="Aptos"/>
                        </a:rPr>
                        <a:t>Met at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C6066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Data-product workspace &lt; 30 min, no platform-engineer involv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Near-real-time Nexus event data via Unity Catalog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Discover / understand / trust via a single governance layer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Centralized storage, open data format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Rapidly productionize dashboards / pipelines (&lt; 1 hour)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Observe health &amp; metrics; triage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Jan–Apr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Granular cost transparency + proactive cost alarms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Data 08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Decommission EDW + Synapse; data-infra cost ~20% down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Oct 2027–Oct 2028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Industry-leading standards — e2e automation, self-service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Reliable real-time + relaxed-latency data mart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AI-ready infrastructure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No data loss + end-to-end lifecycle transparency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Data-quality enforcement on Kafka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Flexible Kafka ingestion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Kong API developer portal + API standardization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Integration 08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Decommission BizTalk — while retaining operating competency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Strangler Oct 2027 · retired Oct 2028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DevOps 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Shared Kubernetes infrastructure — reduce duplication &amp; over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Oct 2027–Oct 2028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DevOps 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Enable AI-assisted development tooling, incl. ADO→GitHub as 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Jan–Apr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DevOps 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End-to-end observability for business observability at scale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6181D"/>
                          </a:solidFill>
                          <a:latin typeface="Aptos"/>
                        </a:rPr>
                        <a:t>DevOps 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DevEx &amp; onboarding: golden paths, self-service, fast feedbac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6181D"/>
                          </a:solidFill>
                          <a:latin typeface="Aptos"/>
                        </a:rPr>
                        <a:t>Apr–Oct 2027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16  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Re-anchored to the 30 Oct award — both lanes, four checkpoints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35597B"/>
                </a:solidFill>
                <a:latin typeface="Aptos"/>
              </a:rPr>
              <a:t>LANE 1 · RUN &amp;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C43B44"/>
                </a:solidFill>
                <a:latin typeface="Aptos"/>
              </a:rPr>
              <a:t>LANE 2 · IMPROVE &amp; EVOLVE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24028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181D"/>
                </a:solidFill>
                <a:latin typeface="Aptos"/>
              </a:rPr>
              <a:t>3 months · Jan 2027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Stabilise &amp; assess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691640"/>
            <a:ext cx="4389120" cy="106070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Support-team transition complete (day 60, late Dec 2026): full on-call, P1/P2 owned
• Dev-team transition in flight (days 60–120)
• Baselines banked: DORA, developer NPS (16), cost, MTTx, ticket volumes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91640"/>
            <a:ext cx="3913632" cy="1060704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Nothing in your estate — deliberately.
• Our own delivery team uses AI internally (your approved tools, our machines).
• Optional W1/W2 workshops draft the gate charter — a Pandora-owned artifact for later.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224028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008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181D"/>
                </a:solidFill>
                <a:latin typeface="Aptos"/>
              </a:rPr>
              <a:t>6 months · Apr 2027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Foundations proven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862072"/>
            <a:ext cx="4389120" cy="106070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953512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Dev-team transition autonomous (day 120, Mar 2027); cutover on 50+ parameter evidence
• A full quarter of SLAs proven at the RFP's numbers
• Conventional automation wave 1: golden paths, dashboards, IaC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862072"/>
            <a:ext cx="3913632" cy="1060704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953512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If — and only if — Pandora turns the first dial: one Assist pilot in one item (e.g. access requests via Teams), 100% human-approved — through Gates 0 + 1
• AI dev-tooling enablement for Pandora engineers (your own stated goal)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32504"/>
            <a:ext cx="224028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181D"/>
                </a:solidFill>
                <a:latin typeface="Aptos"/>
              </a:rPr>
              <a:t>12 months · Oct 2027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Selective dial-ups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032504"/>
            <a:ext cx="4389120" cy="106070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123944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First cost-down banked; DORA trending up
• Majority of one-time migrations done conventionally
• BizTalk strangler underway on the plan and budget delivered in the first 90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032504"/>
            <a:ext cx="3913632" cy="1060704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12394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Assist broadened to dialled-up items only
• First Delegate candidates where their Gate 2 passes
• Agentic governance activates with the first estate touch — never before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02936"/>
            <a:ext cx="224028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30951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181D"/>
                </a:solidFill>
                <a:latin typeface="Aptos"/>
              </a:rPr>
              <a:t>24 months · Oct 2028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Earned scale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5202936"/>
            <a:ext cx="4389120" cy="1060704"/>
          </a:xfrm>
          <a:prstGeom prst="roundRect">
            <a:avLst>
              <a:gd name="adj" fmla="val 6000"/>
            </a:avLst>
          </a:prstGeom>
          <a:solidFill>
            <a:srgbClr val="EDF1F6"/>
          </a:solidFill>
          <a:ln w="9525">
            <a:solidFill>
              <a:srgbClr val="B6C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294375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Legacy retired: BizTalk, EDW, Synapse
• All RFP targets met — at whichever level each item sits
• Steady-state operations with a proven improvement cadence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202936"/>
            <a:ext cx="3913632" cy="1060704"/>
          </a:xfrm>
          <a:prstGeom prst="roundRect">
            <a:avLst>
              <a:gd name="adj" fmla="val 6000"/>
            </a:avLst>
          </a:prstGeom>
          <a:solidFill>
            <a:srgbClr val="F7E9E9"/>
          </a:solidFill>
          <a:ln w="9525">
            <a:solidFill>
              <a:srgbClr val="E4B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5294375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6181D"/>
                </a:solidFill>
                <a:latin typeface="Aptos"/>
              </a:rPr>
              <a:t>• Items at whatever level Pandora chose — the fabric fully available, never mandatory
• Same destination as the July approach. Arrival by consent.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17   THE COST OF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Shown, not hidden — what each target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9728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2194560"/>
                <a:gridCol w="219456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RFP target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C6066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181D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2E7D4F"/>
                </a:solidFill>
                <a:latin typeface="Aptos"/>
              </a:rPr>
              <a:t>Three headline targets — sub-30-min workspaces, minutes-onboarding, top-quartile DORA — are Level-1 outcomes. The dial is yours.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18   WHY THIS IS LOW-RISK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Proven takeover · fabric already built · goals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737360"/>
            <a:ext cx="1449324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Proven at Pandora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C43B44"/>
                </a:solidFill>
                <a:latin typeface="Aptos"/>
              </a:rPr>
              <a:t>100 / 95 / 90 / 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Our transition record in other Pandora product lines: 100% readiness criteria met, 95%+ documentation and runbooks generated, 90%+ tickets resolved independently in reverse shadow, 97%+ SLA achievement during stabilization.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737360"/>
            <a:ext cx="1138428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Already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C43B44"/>
                </a:solidFill>
                <a:latin typeface="Aptos"/>
              </a:rPr>
              <a:t>0 R&amp;D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The fabric is not a promise: Pandav runs on a standard container, the skill library is in production delivery use, the ops loop is designed. Keeping the option ready costs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4023360"/>
            <a:ext cx="1216152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Named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89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C43B44"/>
                </a:solidFill>
                <a:latin typeface="Aptos"/>
              </a:rPr>
              <a:t>30 /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983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Every scope row has a named conventional solution at Level 0. Coverage never depends on anything novel.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4023360"/>
            <a:ext cx="1138428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Goals 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C43B44"/>
                </a:solidFill>
                <a:latin typeface="Aptos"/>
              </a:rPr>
              <a:t>12/16 + 3/4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83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066"/>
                </a:solidFill>
                <a:latin typeface="Aptos"/>
              </a:rPr>
              <a:t>Your Data, Integration and DevOps platform goals fully met at Level 0; the remainder at Level 1 — one of which is your own AI-tooling goal. Nothing requires Level 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19   WHAT WE NEED FROM PANDORA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>
                <a:solidFill>
                  <a:srgbClr val="16181D"/>
                </a:solidFill>
                <a:latin typeface="Aptos"/>
              </a:rPr>
              <a:t>Deliberately lighter — and how we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33856"/>
            <a:ext cx="566928" cy="45720"/>
          </a:xfrm>
          <a:prstGeom prst="rect">
            <a:avLst/>
          </a:prstGeom>
          <a:solidFill>
            <a:srgbClr val="C43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WHAT WE NEED FROM PANDORA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Transition access and environments — the RFP's own mobilisation needs, nothing more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Named service owners per platform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Monthly governance participation (the RFP's cadence)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A quarterly dial review — 30 minutes inside the existing cadence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Optional: the W1/W2 workshops to co-author the gate charter for later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E7D4F"/>
                </a:solidFill>
                <a:latin typeface="Aptos"/>
              </a:rPr>
              <a:t>•  </a:t>
            </a:r>
            <a:r>
              <a:rPr sz="1200">
                <a:solidFill>
                  <a:srgbClr val="16181D"/>
                </a:solidFill>
                <a:latin typeface="Aptos"/>
              </a:rPr>
              <a:t>Not needed to start: any agentic decision, any new tooling in your estate, any process change for your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5C6066"/>
                </a:solidFill>
                <a:latin typeface="Aptos"/>
              </a:rPr>
              <a:t>HOW WE START — FROM AWARD TO THE FIRST DIAL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42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C43B44"/>
                </a:solidFill>
                <a:latin typeface="Aptos"/>
              </a:rPr>
              <a:t>Week 0 · on award (30 Oct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1538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Confirm transition start; mobilise Phase I support team per the RFP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828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C43B44"/>
                </a:solidFill>
                <a:latin typeface="Aptos"/>
              </a:rPr>
              <a:t>Weeks 1–6 · parallel,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85546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W1 "Align — the map" and W2 "Define the gates": preparing the option, not committing to it. Every artifact Pandora-owned.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94960"/>
            <a:ext cx="109728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522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C43B44"/>
                </a:solidFill>
                <a:latin typeface="Aptos"/>
              </a:rPr>
              <a:t>~Day 90 · Jan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49554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066"/>
                </a:solidFill>
                <a:latin typeface="Aptos"/>
              </a:rPr>
              <a:t>First quarterly dial review — the first moment any dial could turn, and equally the moment you can say "not yet" with zero consequence.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C43B44"/>
                </a:solidFill>
                <a:latin typeface="Aptos"/>
              </a:rPr>
              <a:t>20 ·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Aptos"/>
              </a:rPr>
              <a:t>One decision starts the gentler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896112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3113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THE ONE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1284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BD0"/>
                </a:solidFill>
                <a:latin typeface="Aptos"/>
              </a:rPr>
              <a:t>Approve the alternative approach and confirm the transition start date. That is the whole 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10515600" cy="896112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369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WHAT STAYS YOURS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1868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BD0"/>
                </a:solidFill>
                <a:latin typeface="Aptos"/>
              </a:rPr>
              <a:t>The dials, the gates, and the pace. Every dial-up needs your named owner's signature; every dial position is reviewed quarterly; "not yet" is always a valid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15600" cy="896112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E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428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C43B44"/>
                </a:solidFill>
                <a:latin typeface="Aptos"/>
              </a:rPr>
              <a:t>WHAT STAYS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2452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BD0"/>
                </a:solidFill>
                <a:latin typeface="Aptos"/>
              </a:rPr>
              <a:t>The agentic fabric — built, proven, and waiting behind Gate 0. The July approach remains available as the accelerated option whenever you want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6E1"/>
                </a:solidFill>
                <a:latin typeface="Aptos"/>
              </a:rPr>
              <a:t>Run as-is from day one. Build the foundations while we run. Earn every step toward agentic — at your pace, behind your gates, with your hand on the dial.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