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8" r:id="rId19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3B44"/>
                </a:solidFill>
                <a:latin typeface="Helvetica Neue"/>
              </a:rPr>
              <a:t>PANDORA TS&amp;F · STRATEGIC PARTNER SELECTION 2027 · THE REQUESTED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Helvetica Neue"/>
              </a:rPr>
              <a:t>The Alternative Approach: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Helvetica Neue"/>
              </a:rPr>
              <a:t>Run As-Is First, Earn 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C6066"/>
                </a:solidFill>
                <a:latin typeface="Helvetica Neue"/>
              </a:rPr>
              <a:t>"We would like to know if you can propose an alternative approach to the scope provided, as we found the current approach to be a bit ambitious."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— Your message after the platform deep-dive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5597B"/>
                </a:solidFill>
                <a:latin typeface="Helvetica Neue"/>
              </a:rPr>
              <a:t>Same destination. A gentler on-ramp. The fabric is never a dependency — only a dividend.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September 2026 · anchored to contract award, 30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WHAT WE HEARD — AND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A real alternative, not repackaging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1554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C6066"/>
                </a:solidFill>
                <a:latin typeface="Helvetica Neue"/>
              </a:rPr>
              <a:t>JULY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43B44"/>
                </a:solidFill>
                <a:latin typeface="Helvetica Neue"/>
              </a:rPr>
              <a:t>THIS ALTERNATIVE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3749039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0" y="1874519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2082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Role of the agentic fabric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0208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Delivery mechanism for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0208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Improvement engine behind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15768"/>
            <a:ext cx="3749039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2715768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2715768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620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Scope coupling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6207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13 of 30 rows “via the fabric”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86207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Zero rows depend on the fabric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557015"/>
            <a:ext cx="3749039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26280" y="3557015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557015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703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Day-1 change for your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3703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New front door, new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703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None — same tools, same processes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98264"/>
            <a:ext cx="3749039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26280" y="4398264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0" y="4398264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544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Adoption 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60" y="454456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Program-level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54456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Per item, per gate, your dial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239512"/>
            <a:ext cx="3749039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26280" y="5239512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29600" y="5239512"/>
            <a:ext cx="35661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38581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Prerequisites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538581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Assumed ready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38581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Assessed, then built — Gate 0 first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7219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E7D4F"/>
                </a:solidFill>
                <a:latin typeface="Helvetica Neue"/>
              </a:rPr>
              <a:t>What does not change: the destination, the SLAs, the assets, the RFP commitments. The July approach remains available as the accelerated option.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Two lanes, one destination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72800" cy="1143000"/>
          </a:xfrm>
          <a:prstGeom prst="roundRect">
            <a:avLst>
              <a:gd name="adj" fmla="val 45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5597B"/>
                </a:solidFill>
                <a:latin typeface="Helvetica Neue"/>
              </a:rPr>
              <a:t>Lane 1 · Run &amp; Deliver — active from 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6181D"/>
                </a:solidFill>
                <a:latin typeface="Helvetica Neue"/>
              </a:rPr>
              <a:t>Transition per the RFP · your tools and SLAs · migration factories · conventional automation · foundations built as a by-product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72800" cy="1143000"/>
          </a:xfrm>
          <a:prstGeom prst="roundRect">
            <a:avLst>
              <a:gd name="adj" fmla="val 45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3639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3B44"/>
                </a:solidFill>
                <a:latin typeface="Helvetica Neue"/>
              </a:rPr>
              <a:t>Lane 2 · Improve &amp; Evolve — the agentic fabric, held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3872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6181D"/>
                </a:solidFill>
                <a:latin typeface="Helvetica Neue"/>
              </a:rPr>
              <a:t>Nothing in the estate until Gate 0 + the item gate pass · per-item dial in Pandora's hand · reversible, audited, quarterly-reviewed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1EDF6"/>
          </a:solidFill>
          <a:ln w="9525">
            <a:solidFill>
              <a:srgbClr val="C8B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25696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684E86"/>
                </a:solidFill>
                <a:latin typeface="Helvetica Neue"/>
              </a:rPr>
              <a:t>Governance base — service governance active day one · agentic governance pre-built, dormant until the first dial-up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181D"/>
                </a:solidFill>
                <a:latin typeface="Helvetica Neue"/>
              </a:rPr>
              <a:t>Three gate kinds — Gate 0 once (foundations) · Gate 1 per item (unlocks L1) · Gate 2 per item (unlocks L2). Three rules: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68112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066"/>
                </a:solidFill>
                <a:latin typeface="Helvetica Neue"/>
              </a:rPr>
              <a:t>1  Lane 1 meets every SLA using conventional means alone — nothing agentic is ever load-bearing until it has passed its gate.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066"/>
                </a:solidFill>
                <a:latin typeface="Helvetica Neue"/>
              </a:rPr>
              <a:t>2  Nothing crosses into the estate without a passed gate, a named Pandora owner's sign-off, and a proven rollback.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066"/>
                </a:solidFill>
                <a:latin typeface="Helvetica Neue"/>
              </a:rPr>
              <a:t>3  Every dial-up is reversible; every dial position is reviewed quarterly in the existing governance cadence.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READINESS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Gate 0 — before anything agentic, four things must be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440680" cy="1737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465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5597B"/>
                </a:solidFill>
                <a:latin typeface="Helvetica Neue"/>
              </a:rPr>
              <a:t>Infrastructure &amp; security maturity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3055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Posture review: secrets, RBAC, isolation, audit sinks. Build the LLM gateway + guardrails — AI-ready is not AI-running, — one of your own stated integration goals.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440680" cy="1737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465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5597B"/>
                </a:solidFill>
                <a:latin typeface="Helvetica Neue"/>
              </a:rPr>
              <a:t>People &amp; AI-tool fluency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3055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Skills baseline vs your named gaps; Copilot/Claude enablement (one of your own stated goals); champions seeded. Evidence: adoption thresholds + first Pandora-run retro.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5440680" cy="1737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210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5597B"/>
                </a:solidFill>
                <a:latin typeface="Helvetica Neue"/>
              </a:rPr>
              <a:t>Operations: trace &amp;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0507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You cannot gate agents on evidence you cannot measure. SLOs, tracing, runbooks to 95%+; DORA/NPS/cost baselines proven on live incidents for a quarter.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474720"/>
            <a:ext cx="5440680" cy="17373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6210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5597B"/>
                </a:solidFill>
                <a:latin typeface="Helvetica Neue"/>
              </a:rPr>
              <a:t>Governance readiness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00507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Risk tiers T0–T4, the gate charter authored by Pandora hands, decision records. Evidence: charter signed; audit completeness at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E7D4F"/>
                </a:solidFill>
                <a:latin typeface="Helvetica Neue"/>
              </a:rPr>
              <a:t>Lane 1 builds all four as a by-product of running the service well. Running as-is first is not a delay on the agentic journey — it is the journey's first leg. Agentic-first would not just have been ambitious; it would have been premature.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RUN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Day one: the RFP delivered as written — anchored to the 30 Oct award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82495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Phase I · Support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824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Days 0–60 · Nov–Dec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682495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Hired in, on-parallel shadow, P3–P5; bi-weekly readiness assessments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22576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505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Phase I · Autonomous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505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Day 60+ · late Dec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5059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Full on-call, P1/P2 owned, monthly on-call quality vs SLA/SLO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90672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186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Phase II · Dev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2186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Days 60–120 · Jan–Feb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21868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Hired in, shadow, knowledge handover, feature development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58768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86783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181D"/>
                </a:solidFill>
                <a:latin typeface="Helvetica Neue"/>
              </a:rPr>
              <a:t>Phase II · Autonomous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8678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Day 120+ · 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986783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Fully autonomous; 50+ parameter cutover agreed on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36592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6181D"/>
                </a:solidFill>
                <a:latin typeface="Helvetica Neue"/>
              </a:rPr>
              <a:t>Your tooling, unchanged: ServiceNow · New Relic · PagerDuty · GitHub · Terraform · Jira/Confluence · Port.io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16181D"/>
                </a:solidFill>
                <a:latin typeface="Helvetica Neue"/>
              </a:rPr>
              <a:t>Your SLAs: P1 15-min ack / 1.5h RTO · 99.99% mission-critical · error budgets per tier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16181D"/>
                </a:solidFill>
                <a:latin typeface="Helvetica Neue"/>
              </a:rPr>
              <a:t>Your RACI boundary: Pandora retains leads, architecture, standards, roadmap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16181D"/>
                </a:solidFill>
                <a:latin typeface="Helvetica Neue"/>
              </a:rPr>
              <a:t>The only AI on day one: inside our own delivery team — your approved tools, our machines, no estate footprint.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Three service levels on every one of the 30 scope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72800" cy="60350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5597B"/>
                </a:solidFill>
                <a:latin typeface="Helvetica Neue"/>
              </a:rPr>
              <a:t>L0 · Run as-is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Conventional delivery, named solution, SLA-bound. The default — forever, if you choose.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67712"/>
            <a:ext cx="10972800" cy="60350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865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3671F"/>
                </a:solidFill>
                <a:latin typeface="Helvetica Neue"/>
              </a:rPr>
              <a:t>L1 · AI-assisted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86584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AI drafts and recommends; a human executes every action. Unlocked per item by Gate 1 (after Gate 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80944"/>
            <a:ext cx="10972800" cy="60350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99815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3B44"/>
                </a:solidFill>
                <a:latin typeface="Helvetica Neue"/>
              </a:rPr>
              <a:t>L2 · Agentic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099815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066"/>
                </a:solidFill>
                <a:latin typeface="Helvetica Neue"/>
              </a:rPr>
              <a:t>The fabric owns a bounded loop behind approval gates. Unlocked per item by Gate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313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181D"/>
                </a:solidFill>
                <a:latin typeface="Helvetica Neue"/>
              </a:rPr>
              <a:t>Example — data-product workspace (RFP: under 30 minutes):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BFAF8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0682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L0 · from Jan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306824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Templated Terraform + Databricks via ServiceNow. Days become hours; an engineer approves.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855464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BFAF8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9651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L1 · earliest Apr–Oct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96519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Request via Teams; policy decides; a human approves. Under 30 minutes — the RFP target lands here.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513831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BFAF8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62355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5597B"/>
                </a:solidFill>
                <a:latin typeface="Helvetica Neue"/>
              </a:rPr>
              <a:t>L2 · earliest Oct 2027+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62355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066"/>
                </a:solidFill>
                <a:latin typeface="Helvetica Neue"/>
              </a:rPr>
              <a:t>Pre-approved patterns provision automatically with outcome review — only if the evidence says so, only if you turn the dial.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453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E7D4F"/>
                </a:solidFill>
                <a:latin typeface="Helvetica Neue"/>
              </a:rPr>
              <a:t>Every item starts at L0. Roughly a third never need L2 at all — which is what proves the dial is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YOUR GOALS, TRACED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Everything you asked for, on the gentler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81D"/>
                </a:solidFill>
                <a:latin typeface="Helvetica Neue"/>
              </a:rPr>
              <a:t>12 of your 16 Data &amp; Integration platform goals and 3 of your 4 DevOps platform objectives are fully met at Level 0 — conventional delivery, nothing agentic anywhere. Nothing requires Level 2. The dial governs pace, never coverage.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3B44"/>
                </a:solidFill>
                <a:latin typeface="Helvetica Neue"/>
              </a:rPr>
              <a:t>The four goals that need Level 1 — named openly: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0837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Data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0837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81D"/>
                </a:solidFill>
                <a:latin typeface="Helvetica Neue"/>
              </a:rPr>
              <a:t>Workspace &lt; 30 min without platform-engineer involvement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008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Teams-assist path, human-approved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48456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7647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Data 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77647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81D"/>
                </a:solidFill>
                <a:latin typeface="Helvetica Neue"/>
              </a:rPr>
              <a:t>Pipelines / dashboards productionized &lt; 1 hour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7764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Assisted authoring; L0 already reaches same-day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16552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4456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Integration 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54456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81D"/>
                </a:solidFill>
                <a:latin typeface="Helvetica Neue"/>
              </a:rPr>
              <a:t>Full self-service on integration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544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Automation and standards are L0; self-service is the L1 mile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72800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31266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DevOps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531266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81D"/>
                </a:solidFill>
                <a:latin typeface="Helvetica Neue"/>
              </a:rPr>
              <a:t>AI-assisted development tooling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31266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Your own goal, on tools you already approved — the dial is about pace, not permission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6247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C6066"/>
                </a:solidFill>
                <a:latin typeface="Helvetica Neue"/>
              </a:rPr>
              <a:t>Bonus: the “agentic-workflow framework” your RFP lists as an open decision is exactly the gate charter + dial model of this approach. And BizTalk's missing action plan &amp; budget become a first-90-days Lane-1 deliverable.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THE JOURNEY, RE-ANCHORED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Four checkpoints from the 30 October award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554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5597B"/>
                </a:solidFill>
                <a:latin typeface="Helvetica Neue"/>
              </a:rPr>
              <a:t>LANE 1 · RUN &amp; DELIVER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554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43B44"/>
                </a:solidFill>
                <a:latin typeface="Helvetica Neue"/>
              </a:rPr>
              <a:t>LANE 2 · IMPROVE &amp; EVOLVE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47088"/>
            <a:ext cx="2240280" cy="9692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3 mo · Jan 2027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847088"/>
            <a:ext cx="4389120" cy="969264"/>
          </a:xfrm>
          <a:prstGeom prst="roundRect">
            <a:avLst>
              <a:gd name="adj" fmla="val 45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965960"/>
            <a:ext cx="4069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Support autonomous; dev in flight; baselines banked; Gate-0 assessments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847088"/>
            <a:ext cx="3913632" cy="969264"/>
          </a:xfrm>
          <a:prstGeom prst="roundRect">
            <a:avLst>
              <a:gd name="adj" fmla="val 45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965960"/>
            <a:ext cx="3611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NOTHING in your estate — deliberately. Our team's internal AI only; optional gate-charter workshops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44368"/>
            <a:ext cx="2240280" cy="9692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90672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6 mo · Apr 2027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944368"/>
            <a:ext cx="4389120" cy="969264"/>
          </a:xfrm>
          <a:prstGeom prst="roundRect">
            <a:avLst>
              <a:gd name="adj" fmla="val 45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3063239"/>
            <a:ext cx="4069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Dev autonomous; a quarter of SLAs proven; automation wave 1; migration factories running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2944368"/>
            <a:ext cx="3913632" cy="969264"/>
          </a:xfrm>
          <a:prstGeom prst="roundRect">
            <a:avLst>
              <a:gd name="adj" fmla="val 45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3063239"/>
            <a:ext cx="3611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If you turn the first dial: one Assist pilot, 100% human-approved; AI dev-tooling enablement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41648"/>
            <a:ext cx="2240280" cy="9692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187952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12 mo · Oct 2027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041648"/>
            <a:ext cx="4389120" cy="969264"/>
          </a:xfrm>
          <a:prstGeom prst="roundRect">
            <a:avLst>
              <a:gd name="adj" fmla="val 45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4160520"/>
            <a:ext cx="4069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First cost-down; DORA trending; majority migrations done; BizTalk strangler underway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041648"/>
            <a:ext cx="3913632" cy="969264"/>
          </a:xfrm>
          <a:prstGeom prst="roundRect">
            <a:avLst>
              <a:gd name="adj" fmla="val 45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4160520"/>
            <a:ext cx="3611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Assist broadened per dials; first Delegate candidates; agentic governance activates on first touch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138928"/>
            <a:ext cx="2240280" cy="9692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285232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24 mo · Oct 2028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5138928"/>
            <a:ext cx="4389120" cy="969264"/>
          </a:xfrm>
          <a:prstGeom prst="roundRect">
            <a:avLst>
              <a:gd name="adj" fmla="val 45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46120" y="5257800"/>
            <a:ext cx="4069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Legacy retired; all RFP targets met at chosen levels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5138928"/>
            <a:ext cx="3913632" cy="969264"/>
          </a:xfrm>
          <a:prstGeom prst="roundRect">
            <a:avLst>
              <a:gd name="adj" fmla="val 45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20" y="5257800"/>
            <a:ext cx="3611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6181D"/>
                </a:solidFill>
                <a:latin typeface="Helvetica Neue"/>
              </a:rPr>
              <a:t>Items at whatever level you chose. Same destination — arrival by consent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81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C6066"/>
                </a:solidFill>
                <a:latin typeface="Helvetica Neue"/>
              </a:rPr>
              <a:t>Every Lane-2 entry needs Gate 0, the item gate, and your named owner's signature. “Not yet” is always a valid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THE COST OF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Shown, not hidden — what each target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190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99.99% availability · P1–P4 SLAs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19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E7D4F"/>
                </a:solidFill>
                <a:latin typeface="Helvetica Neue"/>
              </a:rPr>
              <a:t>MET at L0 from month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58568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774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Workspace provisioning days →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3774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E7D4F"/>
                </a:solidFill>
                <a:latin typeface="Helvetica Neue"/>
              </a:rPr>
              <a:t>MET at L0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16935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35807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~20% data-infra cost 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03580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E7D4F"/>
                </a:solidFill>
                <a:latin typeface="Helvetica Neue"/>
              </a:rPr>
              <a:t>MAJORITY at L0 (decommission + right-sizing)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3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94175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BizTalk / EDW / Synapse decommission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694175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E7D4F"/>
                </a:solidFill>
                <a:latin typeface="Helvetica Neue"/>
              </a:rPr>
              <a:t>MET at L0 (factories); ~30–40% faster with our internal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33671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52543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Workspace &lt; 30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52543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NEEDS L1 — Teams-assist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39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01091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Onboarding days → minutes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10911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NEEDS L1 (L0 reaches a day)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550407"/>
            <a:ext cx="10972800" cy="5669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66927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81D"/>
                </a:solidFill>
                <a:latin typeface="Helvetica Neue"/>
              </a:rPr>
              <a:t>DORA to full potential · NPS up from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566927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NEEDS L1 (AI dev tooling — your own goal)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45935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C6066"/>
                </a:solidFill>
                <a:latin typeface="Helvetica Neue"/>
              </a:rPr>
              <a:t>Three headline targets are Level-1 outcomes. The dial for those three is yours — Gate 0 and the item gates make turning it safe. An alternative that pretends caution is free would be marketing.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Two layers, one principle: controls arrive before autonomy — always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440680" cy="3291840"/>
          </a:xfrm>
          <a:prstGeom prst="roundRect">
            <a:avLst>
              <a:gd name="adj" fmla="val 4500"/>
            </a:avLst>
          </a:prstGeom>
          <a:solidFill>
            <a:srgbClr val="E9F3EC"/>
          </a:solidFill>
          <a:ln w="9525">
            <a:solidFill>
              <a:srgbClr val="A9C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7D4F"/>
                </a:solidFill>
                <a:latin typeface="Helvetica Neue"/>
              </a:rPr>
              <a:t>Layer 1 · Service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4F"/>
                </a:solidFill>
                <a:latin typeface="Helvetica Neue"/>
              </a:rPr>
              <a:t>ACTIVE FROM DAY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Weekly delivery forum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Monthly Eng-Manager → vendor-manager feedback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Escalation paths; joint incident &amp; problem mgmt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Service reviews: reliability, adoption, DevEx,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257800" cy="3291840"/>
          </a:xfrm>
          <a:prstGeom prst="roundRect">
            <a:avLst>
              <a:gd name="adj" fmla="val 4500"/>
            </a:avLst>
          </a:prstGeom>
          <a:solidFill>
            <a:srgbClr val="FBFAF8"/>
          </a:solidFill>
          <a:ln w="9525">
            <a:solidFill>
              <a:srgbClr val="DDB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3671F"/>
                </a:solidFill>
                <a:latin typeface="Helvetica Neue"/>
              </a:rPr>
              <a:t>Layer 2 · Agentic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48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3671F"/>
                </a:solidFill>
                <a:latin typeface="Helvetica Neue"/>
              </a:rPr>
              <a:t>PRE-BUILT · DORMANT UNTIL THE FIRST DIAL-UP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5146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Agent registry, intent &amp; model catalogues (templates)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Risk-tiered autonomy T0–T4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Full audit-trail design: every request → output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Helvetica Neue"/>
              </a:rPr>
              <a:t>Evaluation scorecards + AI FinOps — on first touch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66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5597B"/>
                </a:solidFill>
                <a:latin typeface="Helvetica Neue"/>
              </a:rPr>
              <a:t>The joining mechanism: a quarterly dial review inside the existing governance cadence — every item's level, its evidence, any proposed change. Decided by Pandora. Saying “not yet” carries zero consequence.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WHY THIS IS LOW-RISK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Proven takeover · fabric already built · lighter 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440680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43B44"/>
                </a:solidFill>
                <a:latin typeface="Helvetica Neue"/>
              </a:rPr>
              <a:t>100 / 95 / 90 / 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6712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Our Pandora transition record: readiness · docs · independent tickets · SLA in stabilization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440680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43B44"/>
                </a:solidFill>
                <a:latin typeface="Helvetica Neue"/>
              </a:rPr>
              <a:t>0 R&amp;D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6712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The fabric already exists: Pandav on a standard container, skills in production use, ops loop designed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71800"/>
            <a:ext cx="5440680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43B44"/>
                </a:solidFill>
                <a:latin typeface="Helvetica Neue"/>
              </a:rPr>
              <a:t>30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3872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Every scope row has a named conventional solution at Level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971800"/>
            <a:ext cx="5440680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43B44"/>
                </a:solidFill>
                <a:latin typeface="Helvetica Neue"/>
              </a:rPr>
              <a:t>12/16 + 3/4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3872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Helvetica Neue"/>
              </a:rPr>
              <a:t>Your Data, Integration and DevOps goals met at Level 0; the rest at Level 1; none need Level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181D"/>
                </a:solidFill>
                <a:latin typeface="Helvetica Neue"/>
              </a:rPr>
              <a:t>What we need from Pandora — deliberately lighter: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9204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C6066"/>
                </a:solidFill>
                <a:latin typeface="Helvetica Neue"/>
              </a:rPr>
              <a:t>Transition access and environments · named service owners · monthly governance participation · a quarterly dial review (30 minutes)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C6066"/>
                </a:solidFill>
                <a:latin typeface="Helvetica Neue"/>
              </a:rPr>
              <a:t>Optional: W1/W2 workshops to co-author the gate charter for later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C6066"/>
                </a:solidFill>
                <a:latin typeface="Helvetica Neue"/>
              </a:rPr>
              <a:t>Not needed to start: any agentic decision, any new estate tooling, any process change for your teams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3B44"/>
                </a:solidFill>
                <a:latin typeface="Helvetica Neue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Helvetica Neue"/>
              </a:rPr>
              <a:t>One decision starts the gentler path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3113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THE ONE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231136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9CBD0"/>
                </a:solidFill>
                <a:latin typeface="Helvetica Neue"/>
              </a:rPr>
              <a:t>Approve the alternative approach and confirm the transition start date. That is the whole 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45535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7355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WHAT STAYS YOURS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273551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9CBD0"/>
                </a:solidFill>
                <a:latin typeface="Helvetica Neue"/>
              </a:rPr>
              <a:t>The dials, the gates, and the pace. Every dial-up needs your named owner's signature; “not yet” is always valid.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87951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315967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3B44"/>
                </a:solidFill>
                <a:latin typeface="Helvetica Neue"/>
              </a:rPr>
              <a:t>WHAT STAYS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315967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9CBD0"/>
                </a:solidFill>
                <a:latin typeface="Helvetica Neue"/>
              </a:rPr>
              <a:t>The agentic fabric — built, proven, waiting behind Gate 0. The July approach remains available whenever you want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13247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8E6E1"/>
                </a:solidFill>
                <a:latin typeface="Helvetica Neue"/>
              </a:rPr>
              <a:t>Run as-is from day one. Build the foundations while we run. Earn every step toward agentic — at your pace, behind your gates, with your hand on the dial.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9ACB3"/>
                </a:solidFill>
                <a:latin typeface="Helvetica Neue"/>
              </a:rPr>
              <a:t>How we start: Week 0 mobilise per the RFP plan · Weeks 1–6 optional gate-charter workshops · Day ~90 the first dial review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C6066"/>
                </a:solidFill>
                <a:latin typeface="Helvetica Neue"/>
              </a:rPr>
              <a:t>THE SCOPE — WHAT WE ARE TALKING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6181D"/>
                </a:solidFill>
                <a:latin typeface="Helvetica Neue"/>
              </a:rPr>
              <a:t>Your scope of work — 30 items, up front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41148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C6066"/>
                </a:solidFill>
                <a:latin typeface="Helvetica Neue"/>
              </a:rPr>
              <a:t>These 30 items are your scope of work — 13 DevOps and 17 Data &amp; Integration — taken directly from the platform deep-dive scope mapping. Nothing added, nothing dropped: we only make the service level of each item something you dial.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4864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5597B"/>
                </a:solidFill>
                <a:latin typeface="Helvetica Neue"/>
              </a:rPr>
              <a:t>DEVOPS PLATFORM · 13 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5212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1.  PAKS: K8s, self-service namespaces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2.  Operating model for PAKS &amp; portal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3.  ADO → GitHub foundation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4.  End-to-end observability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5.  DevEx &amp; onboarding via single IDP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6.  Helios → Port.io migration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7.  Tool selection decisions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8.  OpsGenie → PagerDuty migration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9.  DORA &amp; developer-NPS improvement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10.  Transition &amp; continuous improvement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11.  K8s / DevTools provisioning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12.  Cost transparency (DevOps estate)</a:t>
            </a:r>
          </a:p>
          <a:p>
            <a:pPr algn="l">
              <a:lnSpc>
                <a:spcPct val="116000"/>
              </a:lnSpc>
            </a:pPr>
            <a:r>
              <a:rPr sz="1100" b="0">
                <a:solidFill>
                  <a:srgbClr val="16181D"/>
                </a:solidFill>
                <a:latin typeface="Helvetica Neue"/>
              </a:rPr>
              <a:t>13.  Security / AI-platform / code-quality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4884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2860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43B44"/>
                </a:solidFill>
                <a:latin typeface="Helvetica Neue"/>
              </a:rPr>
              <a:t>DATA &amp; INTEGRATION PLATFORM · 17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6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1.  Data-product workspace &lt; 30 min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2.  Nexus → Unity Catalog flow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3.  Productionize pipelines fast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4.  Observe &amp; triage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5.  Cost transparency &amp; showback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6.  Single governance layer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7.  Open data format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8.  Engineering standards (integration)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9.  Kong API portal &amp; discoverability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10.  AI-ready infrastructure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11.  Flexible ingestion patterns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12.  Real-time + relaxed-latency data mart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13.  No data loss / lifecycle transparency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14.  AI-ready onboarding &amp; availability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15.  Data quality on Kafka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16.  Decommission BizTalk</a:t>
            </a:r>
          </a:p>
          <a:p>
            <a:pPr algn="l">
              <a:lnSpc>
                <a:spcPct val="109000"/>
              </a:lnSpc>
            </a:pPr>
            <a:r>
              <a:rPr sz="1050" b="0">
                <a:solidFill>
                  <a:srgbClr val="16181D"/>
                </a:solidFill>
                <a:latin typeface="Helvetica Neue"/>
              </a:rPr>
              <a:t>17.  Synapse / EDW exit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7D4F"/>
                </a:solidFill>
                <a:latin typeface="Helvetica Neue"/>
              </a:rPr>
              <a:t>Every item is delivered from day one at Level 0. The only thing that evolves is each item's service level — which you dial.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